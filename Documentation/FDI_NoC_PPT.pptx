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3.xml" ContentType="application/vnd.openxmlformats-officedocument.theme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4.xml" ContentType="application/vnd.openxmlformats-officedocument.theme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4415" r:id="rId2"/>
    <p:sldMasterId id="2147484403" r:id="rId3"/>
    <p:sldMasterId id="2147484391" r:id="rId4"/>
    <p:sldMasterId id="2147483913" r:id="rId5"/>
  </p:sldMasterIdLst>
  <p:notesMasterIdLst>
    <p:notesMasterId r:id="rId15"/>
  </p:notesMasterIdLst>
  <p:sldIdLst>
    <p:sldId id="707" r:id="rId6"/>
    <p:sldId id="711" r:id="rId7"/>
    <p:sldId id="712" r:id="rId8"/>
    <p:sldId id="713" r:id="rId9"/>
    <p:sldId id="714" r:id="rId10"/>
    <p:sldId id="716" r:id="rId11"/>
    <p:sldId id="715" r:id="rId12"/>
    <p:sldId id="723" r:id="rId13"/>
    <p:sldId id="725" r:id="rId14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2260">
          <p15:clr>
            <a:srgbClr val="A4A3A4"/>
          </p15:clr>
        </p15:guide>
        <p15:guide id="3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82800"/>
    <a:srgbClr val="CC3300"/>
    <a:srgbClr val="CC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221" autoAdjust="0"/>
    <p:restoredTop sz="95388" autoAdjust="0"/>
  </p:normalViewPr>
  <p:slideViewPr>
    <p:cSldViewPr>
      <p:cViewPr varScale="1">
        <p:scale>
          <a:sx n="85" d="100"/>
          <a:sy n="85" d="100"/>
        </p:scale>
        <p:origin x="1123" y="-5"/>
      </p:cViewPr>
      <p:guideLst>
        <p:guide orient="horz" pos="2160"/>
        <p:guide orient="horz" pos="22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2580"/>
    </p:cViewPr>
  </p:sorterViewPr>
  <p:gridSpacing cx="68400" cy="684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0" hangingPunct="0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0" hangingPunct="0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B9BD5F91-9949-47C7-B50B-53688910CF80}" type="datetimeFigureOut">
              <a:rPr lang="en-US"/>
              <a:pPr>
                <a:defRPr/>
              </a:pPr>
              <a:t>9/11/2026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0" hangingPunct="0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C02CEF6-7EFD-4AC6-8E8B-952C679996F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C72C1B04-4C4E-4504-9A95-7E7033F574B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642CD85B-1DEA-4D4F-96CB-556A77292B2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AA6679C4-AB75-4074-B5A1-8AA33038237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850" y="2619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F1A023E3-2D95-4CCE-8B8C-9C01BEE1CA5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850" y="2619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E8C6D5E0-9232-48BD-BF5B-8FF1C0F2FD4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850" y="2619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1D18F0A8-6405-4F67-913F-1EF3B65764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BE4194FE-AD55-4A9F-9872-164246F64E9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IN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59B76032-E0D2-4706-B861-46A161B314D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850" y="2619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12C9E0CB-6069-475D-A72D-73DC73A26C2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602BB1D9-2B5B-4691-B0AA-D59A62A25C9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3700665E-C754-4023-B9F0-37DED1FC10D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GMCET_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4743" y="0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23EEEC-FAA9-4B95-B298-54A4BAC5D526}" type="datetimeFigureOut">
              <a:rPr lang="en-US"/>
              <a:pPr>
                <a:defRPr/>
              </a:pPr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89B6BD-7CAB-4551-8178-C8785548D5D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C70D2-54AA-4418-9017-4CD3C3DDCC5F}" type="datetimeFigureOut">
              <a:rPr lang="en-US"/>
              <a:pPr>
                <a:defRPr/>
              </a:pPr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EE4857-D4B6-451C-BA94-14FBFA10116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80C692-5545-41B2-8A7B-74687458B121}" type="datetimeFigureOut">
              <a:rPr lang="en-US"/>
              <a:pPr>
                <a:defRPr/>
              </a:pPr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58E72F-02FC-46F2-9210-0BA32A1642C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EBCCFC-8727-45DB-9C87-1B2D1ED77890}" type="datetimeFigureOut">
              <a:rPr lang="en-US"/>
              <a:pPr>
                <a:defRPr/>
              </a:pPr>
              <a:t>9/11/2026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8082A4-1BC6-4DDD-88D0-18BDBDFB105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97429F-26FE-496C-A47E-1048CF21F9DA}" type="datetimeFigureOut">
              <a:rPr lang="en-US"/>
              <a:pPr>
                <a:defRPr/>
              </a:pPr>
              <a:t>9/11/2026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7DA420-B580-4CF7-9408-11BA28E4752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F8FD72-B832-4542-AFA7-E8FF35AEA8ED}" type="datetimeFigureOut">
              <a:rPr lang="en-US"/>
              <a:pPr>
                <a:defRPr/>
              </a:pPr>
              <a:t>9/11/2026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BA2183-4A8C-43B1-A86D-FE49DE51FCF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9481CE-71F6-463A-9CE3-BB02E67E841F}" type="datetimeFigureOut">
              <a:rPr lang="en-US"/>
              <a:pPr>
                <a:defRPr/>
              </a:pPr>
              <a:t>9/11/2026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214889-0BD5-49A2-8D48-224D4DB8A64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71222A-1906-4426-A9D7-ADABBE0A575C}" type="datetimeFigureOut">
              <a:rPr lang="en-US"/>
              <a:pPr>
                <a:defRPr/>
              </a:pPr>
              <a:t>9/11/2026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309FFC-9FEC-4D00-86DC-26CD0ECB39F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059A07-99B8-46E3-A3F7-129F384A6B0D}" type="datetimeFigureOut">
              <a:rPr lang="en-US"/>
              <a:pPr>
                <a:defRPr/>
              </a:pPr>
              <a:t>9/11/2026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F1D89B-D1F0-447F-A13B-7E92C10C19A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2D30C1-A137-4BEF-9DE8-BE141B3F4B36}" type="datetimeFigureOut">
              <a:rPr lang="en-US"/>
              <a:pPr>
                <a:defRPr/>
              </a:pPr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835F33-39AA-4BA3-92FE-2092196C04C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CBE19A-F5A0-481D-9A11-E44D2BDBAB54}" type="datetimeFigureOut">
              <a:rPr lang="en-US"/>
              <a:pPr>
                <a:defRPr/>
              </a:pPr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064284-A7BC-499F-8F89-265356CA65F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8B8624-5024-4064-98A7-5A768E57590E}" type="datetimeFigureOut">
              <a:rPr lang="en-US"/>
              <a:pPr>
                <a:defRPr/>
              </a:pPr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CBACF6-34EF-402F-84DE-A32BBF2656A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D8AC88-469A-4AC8-9D5B-9B96A023EAEB}" type="datetimeFigureOut">
              <a:rPr lang="en-US"/>
              <a:pPr>
                <a:defRPr/>
              </a:pPr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74CAAC-81A0-42AA-8B91-896C4386E1C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2E88B1-821A-4041-9343-9B0916733E81}" type="datetimeFigureOut">
              <a:rPr lang="en-US"/>
              <a:pPr>
                <a:defRPr/>
              </a:pPr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1C193E-C854-4E4A-89B7-255CF9EC9F4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3985F7-812E-4763-AC30-C2EA10B4D4FC}" type="datetimeFigureOut">
              <a:rPr lang="en-US"/>
              <a:pPr>
                <a:defRPr/>
              </a:pPr>
              <a:t>9/11/2026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BB874A-2867-4F8F-BDCF-FCF06877C7B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18AAC7-FB94-4E01-A4F7-967388BB1D64}" type="datetimeFigureOut">
              <a:rPr lang="en-US"/>
              <a:pPr>
                <a:defRPr/>
              </a:pPr>
              <a:t>9/11/2026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54C7AB-64EE-4C2B-85F0-514D2B9A9D9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96C50D-A6F3-46D2-BBFB-D8A3DDC4A72A}" type="datetimeFigureOut">
              <a:rPr lang="en-US"/>
              <a:pPr>
                <a:defRPr/>
              </a:pPr>
              <a:t>9/11/2026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36C5BD-CE16-47AF-A02E-2953595159D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670871-AFEE-4841-8308-363DAFCFC298}" type="datetimeFigureOut">
              <a:rPr lang="en-US"/>
              <a:pPr>
                <a:defRPr/>
              </a:pPr>
              <a:t>9/11/2026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0CE061-4849-4944-980A-AC895D099CF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C57182-3A78-437C-B9DB-DF8473D83A38}" type="datetimeFigureOut">
              <a:rPr lang="en-US"/>
              <a:pPr>
                <a:defRPr/>
              </a:pPr>
              <a:t>9/11/2026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C4C46A-53C0-4AC8-A706-5D2984C6EEE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207A20-EDB9-44FD-A00B-9D63F1F71CFD}" type="datetimeFigureOut">
              <a:rPr lang="en-US"/>
              <a:pPr>
                <a:defRPr/>
              </a:pPr>
              <a:t>9/11/2026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70A43A-B832-4636-B487-10611F66C32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D37680-4880-4D10-8DFF-F96D91147522}" type="datetimeFigureOut">
              <a:rPr lang="en-US"/>
              <a:pPr>
                <a:defRPr/>
              </a:pPr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0FADCB-843A-48E3-8C70-3D54FF45738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44CDA3-60A7-4EBE-844D-1C0B6BE3F31F}" type="datetimeFigureOut">
              <a:rPr lang="en-US"/>
              <a:pPr>
                <a:defRPr/>
              </a:pPr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1F8FB8-9548-45AC-B249-7CEACE1EDA3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59281C-3B63-43DE-A984-07F22D615847}" type="datetimeFigureOut">
              <a:rPr lang="en-US"/>
              <a:pPr>
                <a:defRPr/>
              </a:pPr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EC5B20-7650-4263-84A5-DF67C5AE64E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3CED8F-417F-4B78-AB62-ED5FFA4C5DF8}" type="datetimeFigureOut">
              <a:rPr lang="en-US"/>
              <a:pPr>
                <a:defRPr/>
              </a:pPr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C7480B-FD3C-4D10-AFD7-38AEEA098A0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412FF3-C237-42C5-B5F0-AE598CE189D5}" type="datetimeFigureOut">
              <a:rPr lang="en-US"/>
              <a:pPr>
                <a:defRPr/>
              </a:pPr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A03D3C-BDAB-48B2-B7FB-0780C6498C5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801DBF-506B-47CE-92CD-BFEA3C265C3B}" type="datetimeFigureOut">
              <a:rPr lang="en-US"/>
              <a:pPr>
                <a:defRPr/>
              </a:pPr>
              <a:t>9/11/2026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5FDE0A-129A-4FCF-83AB-5969FF700F9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328C45-C2DE-45AC-9006-EFC5B2330B43}" type="datetimeFigureOut">
              <a:rPr lang="en-US"/>
              <a:pPr>
                <a:defRPr/>
              </a:pPr>
              <a:t>9/11/2026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5711A8-513D-4986-B838-7F91ABD9908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D18380-DBB9-4492-8E04-3311C3739C62}" type="datetimeFigureOut">
              <a:rPr lang="en-US"/>
              <a:pPr>
                <a:defRPr/>
              </a:pPr>
              <a:t>9/11/2026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084414-02B5-47E6-978A-A51FD853934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BD7653-DF18-4894-9EFC-33A48271ECC4}" type="datetimeFigureOut">
              <a:rPr lang="en-US"/>
              <a:pPr>
                <a:defRPr/>
              </a:pPr>
              <a:t>9/11/2026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B6E077-A5DD-4EF6-B770-58872EB2550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EA82E6-00FC-42BE-AFE5-582BD00E4D33}" type="datetimeFigureOut">
              <a:rPr lang="en-US"/>
              <a:pPr>
                <a:defRPr/>
              </a:pPr>
              <a:t>9/11/2026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D7C075-64CD-4EAA-A656-E00F4EF86B1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B32B09-E22D-4570-9405-BA32818087C1}" type="datetimeFigureOut">
              <a:rPr lang="en-US"/>
              <a:pPr>
                <a:defRPr/>
              </a:pPr>
              <a:t>9/11/2026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A47023-8438-4C19-938D-D4490906601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995DA3-6DA3-4F10-8D7E-A9ED5772DC04}" type="datetimeFigureOut">
              <a:rPr lang="en-US"/>
              <a:pPr>
                <a:defRPr/>
              </a:pPr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27DEF1-6F52-4FC8-92DF-D19D54131DB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A3596F-6421-4E02-842D-1318F312002A}" type="datetimeFigureOut">
              <a:rPr lang="en-US"/>
              <a:pPr>
                <a:defRPr/>
              </a:pPr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6F55A0-03AE-478F-8B7D-93E0BC91F49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D52DAD-5326-49BA-9BDB-93B7D702E738}" type="datetimeFigureOut">
              <a:rPr lang="en-IN"/>
              <a:pPr>
                <a:defRPr/>
              </a:pPr>
              <a:t>11-09-2026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CBE074-FF29-4C9D-9CD1-40745084156A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A1CE0F-6577-41F8-900B-53A34AC95C5A}" type="datetimeFigureOut">
              <a:rPr lang="en-IN"/>
              <a:pPr>
                <a:defRPr/>
              </a:pPr>
              <a:t>11-09-2026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BE5364-BB9B-481C-BAEF-349CA0041A51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FDA8CA-A8B8-40C0-BBC6-1606171A1758}" type="datetimeFigureOut">
              <a:rPr lang="en-IN"/>
              <a:pPr>
                <a:defRPr/>
              </a:pPr>
              <a:t>11-09-2026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09EADA-745D-439B-9D57-289B761E7B2E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9F6730-32BA-4906-99E2-F64ABCD62C6E}" type="datetimeFigureOut">
              <a:rPr lang="en-IN"/>
              <a:pPr>
                <a:defRPr/>
              </a:pPr>
              <a:t>11-09-2026</a:t>
            </a:fld>
            <a:endParaRPr lang="en-I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8C82C7-7FF7-4F6D-B9B0-5F6A64294ADD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A6BBC4-5D95-4D66-96C4-B8370F718003}" type="datetimeFigureOut">
              <a:rPr lang="en-IN"/>
              <a:pPr>
                <a:defRPr/>
              </a:pPr>
              <a:t>11-09-2026</a:t>
            </a:fld>
            <a:endParaRPr lang="en-IN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FE99A5-9FEF-4AED-99E9-D38177269AE4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2D41FF-56CE-4FCB-9E78-7E9F8CCE3096}" type="datetimeFigureOut">
              <a:rPr lang="en-IN"/>
              <a:pPr>
                <a:defRPr/>
              </a:pPr>
              <a:t>11-09-2026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A86CD5-0C33-412E-90F7-0E8DDBF8A368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FAA745-2535-4CEC-BAC4-6CE4B50353B0}" type="datetimeFigureOut">
              <a:rPr lang="en-IN"/>
              <a:pPr>
                <a:defRPr/>
              </a:pPr>
              <a:t>11-09-2026</a:t>
            </a:fld>
            <a:endParaRPr lang="en-IN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2866CC-9135-4A14-9D24-7711FB1921C8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D36890-8428-4A60-826F-AAA0790E1440}" type="datetimeFigureOut">
              <a:rPr lang="en-IN"/>
              <a:pPr>
                <a:defRPr/>
              </a:pPr>
              <a:t>11-09-2026</a:t>
            </a:fld>
            <a:endParaRPr lang="en-I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1928D8-0563-43A9-A9E6-3FA1695974D9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N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CE6CBB-BEF0-4E1E-A04E-61C96CB85A52}" type="datetimeFigureOut">
              <a:rPr lang="en-IN"/>
              <a:pPr>
                <a:defRPr/>
              </a:pPr>
              <a:t>11-09-2026</a:t>
            </a:fld>
            <a:endParaRPr lang="en-I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B057C1-8D09-4C57-B08D-16DDBFB168C4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16AE42-1E4D-421C-B714-96A7ED960456}" type="datetimeFigureOut">
              <a:rPr lang="en-IN"/>
              <a:pPr>
                <a:defRPr/>
              </a:pPr>
              <a:t>11-09-2026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31BD5C-5385-47B4-AC0A-0CBE10F7BBFE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E0A009-3FEE-4B38-8847-95CC991A891B}" type="datetimeFigureOut">
              <a:rPr lang="en-IN"/>
              <a:pPr>
                <a:defRPr/>
              </a:pPr>
              <a:t>11-09-2026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F1D80A-2EB8-43C2-8E1D-EFD272A4A20E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6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40.xml"/><Relationship Id="rId5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9.xml"/><Relationship Id="rId4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8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3.xml"/><Relationship Id="rId7" Type="http://schemas.openxmlformats.org/officeDocument/2006/relationships/slideLayout" Target="../slideLayouts/slideLayout47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42.xml"/><Relationship Id="rId1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51.xml"/><Relationship Id="rId5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50.xml"/><Relationship Id="rId4" Type="http://schemas.openxmlformats.org/officeDocument/2006/relationships/slideLayout" Target="../slideLayouts/slideLayout44.xml"/><Relationship Id="rId9" Type="http://schemas.openxmlformats.org/officeDocument/2006/relationships/slideLayout" Target="../slideLayouts/slideLayout49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9.xml"/><Relationship Id="rId3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8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53.xml"/><Relationship Id="rId1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62.xml"/><Relationship Id="rId5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61.xml"/><Relationship Id="rId4" Type="http://schemas.openxmlformats.org/officeDocument/2006/relationships/slideLayout" Target="../slideLayouts/slideLayout55.xml"/><Relationship Id="rId9" Type="http://schemas.openxmlformats.org/officeDocument/2006/relationships/slideLayout" Target="../slideLayouts/slideLayout6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357088" y="145801"/>
            <a:ext cx="7578950" cy="889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-17463" y="6705600"/>
            <a:ext cx="9161463" cy="1524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IN" sz="1200" dirty="0"/>
              <a:t>MGMCET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001" y="57456"/>
            <a:ext cx="1162800" cy="110776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92118" r:id="rId1"/>
    <p:sldLayoutId id="2147492119" r:id="rId2"/>
    <p:sldLayoutId id="2147492120" r:id="rId3"/>
    <p:sldLayoutId id="2147492121" r:id="rId4"/>
    <p:sldLayoutId id="2147492122" r:id="rId5"/>
    <p:sldLayoutId id="2147492123" r:id="rId6"/>
    <p:sldLayoutId id="2147492067" r:id="rId7"/>
    <p:sldLayoutId id="2147492124" r:id="rId8"/>
    <p:sldLayoutId id="2147492125" r:id="rId9"/>
    <p:sldLayoutId id="2147492126" r:id="rId10"/>
    <p:sldLayoutId id="2147492127" r:id="rId11"/>
    <p:sldLayoutId id="2147492128" r:id="rId12"/>
    <p:sldLayoutId id="2147492068" r:id="rId13"/>
    <p:sldLayoutId id="2147492069" r:id="rId14"/>
    <p:sldLayoutId id="2147492070" r:id="rId15"/>
    <p:sldLayoutId id="2147492071" r:id="rId16"/>
    <p:sldLayoutId id="2147492072" r:id="rId17"/>
    <p:sldLayoutId id="2147492073" r:id="rId18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 noChangeArrowheads="1"/>
          </p:cNvSpPr>
          <p:nvPr>
            <p:ph type="title"/>
          </p:nvPr>
        </p:nvSpPr>
        <p:spPr bwMode="auto">
          <a:xfrm>
            <a:off x="628650" y="365125"/>
            <a:ext cx="7886700" cy="1325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1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0" hangingPunct="0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+mn-cs"/>
              </a:defRPr>
            </a:lvl1pPr>
          </a:lstStyle>
          <a:p>
            <a:pPr>
              <a:defRPr/>
            </a:pPr>
            <a:fld id="{ACFF573B-9A4E-45ED-B9B6-C00D01B43D9E}" type="datetimeFigureOut">
              <a:rPr lang="en-US"/>
              <a:pPr>
                <a:defRPr/>
              </a:pPr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0" hangingPunct="0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021AB882-1D2B-4A11-AA34-F321EDA5F68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92074" r:id="rId1"/>
    <p:sldLayoutId id="2147492075" r:id="rId2"/>
    <p:sldLayoutId id="2147492076" r:id="rId3"/>
    <p:sldLayoutId id="2147492077" r:id="rId4"/>
    <p:sldLayoutId id="2147492078" r:id="rId5"/>
    <p:sldLayoutId id="2147492079" r:id="rId6"/>
    <p:sldLayoutId id="2147492080" r:id="rId7"/>
    <p:sldLayoutId id="2147492081" r:id="rId8"/>
    <p:sldLayoutId id="2147492082" r:id="rId9"/>
    <p:sldLayoutId id="2147492083" r:id="rId10"/>
    <p:sldLayoutId id="2147492084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Placeholder 1"/>
          <p:cNvSpPr>
            <a:spLocks noGrp="1" noChangeArrowheads="1"/>
          </p:cNvSpPr>
          <p:nvPr>
            <p:ph type="title"/>
          </p:nvPr>
        </p:nvSpPr>
        <p:spPr bwMode="auto">
          <a:xfrm>
            <a:off x="628650" y="365125"/>
            <a:ext cx="7886700" cy="1325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3075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0" hangingPunct="0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+mn-cs"/>
              </a:defRPr>
            </a:lvl1pPr>
          </a:lstStyle>
          <a:p>
            <a:pPr>
              <a:defRPr/>
            </a:pPr>
            <a:fld id="{9CFD6038-0150-4BB0-8834-C527723A8623}" type="datetimeFigureOut">
              <a:rPr lang="en-US"/>
              <a:pPr>
                <a:defRPr/>
              </a:pPr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0" hangingPunct="0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29B8D93A-ABEE-4D31-819B-A110394B5EE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92085" r:id="rId1"/>
    <p:sldLayoutId id="2147492086" r:id="rId2"/>
    <p:sldLayoutId id="2147492087" r:id="rId3"/>
    <p:sldLayoutId id="2147492088" r:id="rId4"/>
    <p:sldLayoutId id="2147492089" r:id="rId5"/>
    <p:sldLayoutId id="2147492090" r:id="rId6"/>
    <p:sldLayoutId id="2147492091" r:id="rId7"/>
    <p:sldLayoutId id="2147492092" r:id="rId8"/>
    <p:sldLayoutId id="2147492093" r:id="rId9"/>
    <p:sldLayoutId id="2147492094" r:id="rId10"/>
    <p:sldLayoutId id="2147492095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Placeholder 1"/>
          <p:cNvSpPr>
            <a:spLocks noGrp="1" noChangeArrowheads="1"/>
          </p:cNvSpPr>
          <p:nvPr>
            <p:ph type="title"/>
          </p:nvPr>
        </p:nvSpPr>
        <p:spPr bwMode="auto">
          <a:xfrm>
            <a:off x="628650" y="365125"/>
            <a:ext cx="7886700" cy="1325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4099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0" hangingPunct="0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+mn-cs"/>
              </a:defRPr>
            </a:lvl1pPr>
          </a:lstStyle>
          <a:p>
            <a:pPr>
              <a:defRPr/>
            </a:pPr>
            <a:fld id="{E4D57B10-DEE5-41B1-A96A-68A08065D984}" type="datetimeFigureOut">
              <a:rPr lang="en-US"/>
              <a:pPr>
                <a:defRPr/>
              </a:pPr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0" hangingPunct="0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FEFE18E5-D216-433A-BC0A-B7319AEF419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92096" r:id="rId1"/>
    <p:sldLayoutId id="2147492097" r:id="rId2"/>
    <p:sldLayoutId id="2147492098" r:id="rId3"/>
    <p:sldLayoutId id="2147492099" r:id="rId4"/>
    <p:sldLayoutId id="2147492100" r:id="rId5"/>
    <p:sldLayoutId id="2147492101" r:id="rId6"/>
    <p:sldLayoutId id="2147492102" r:id="rId7"/>
    <p:sldLayoutId id="2147492103" r:id="rId8"/>
    <p:sldLayoutId id="2147492104" r:id="rId9"/>
    <p:sldLayoutId id="2147492105" r:id="rId10"/>
    <p:sldLayoutId id="2147492106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0" hangingPunct="0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+mn-cs"/>
              </a:defRPr>
            </a:lvl1pPr>
          </a:lstStyle>
          <a:p>
            <a:pPr>
              <a:defRPr/>
            </a:pPr>
            <a:fld id="{77B22A40-76E9-4F2F-8A05-974337FFF048}" type="datetimeFigureOut">
              <a:rPr lang="en-IN"/>
              <a:pPr>
                <a:defRPr/>
              </a:pPr>
              <a:t>11-09-2026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0" hangingPunct="0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+mn-cs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52A05276-C51D-426F-8D6B-7D101200F815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92107" r:id="rId1"/>
    <p:sldLayoutId id="2147492108" r:id="rId2"/>
    <p:sldLayoutId id="2147492109" r:id="rId3"/>
    <p:sldLayoutId id="2147492110" r:id="rId4"/>
    <p:sldLayoutId id="2147492111" r:id="rId5"/>
    <p:sldLayoutId id="2147492112" r:id="rId6"/>
    <p:sldLayoutId id="2147492113" r:id="rId7"/>
    <p:sldLayoutId id="2147492114" r:id="rId8"/>
    <p:sldLayoutId id="2147492115" r:id="rId9"/>
    <p:sldLayoutId id="2147492116" r:id="rId10"/>
    <p:sldLayoutId id="2147492117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11A62-4622-F320-CF13-E0BD25023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1">
            <a:extLst>
              <a:ext uri="{FF2B5EF4-FFF2-40B4-BE49-F238E27FC236}">
                <a16:creationId xmlns:a16="http://schemas.microsoft.com/office/drawing/2014/main" id="{20C590A7-8B02-9240-E7B6-B40B0284AA9A}"/>
              </a:ext>
            </a:extLst>
          </p:cNvPr>
          <p:cNvGrpSpPr/>
          <p:nvPr/>
        </p:nvGrpSpPr>
        <p:grpSpPr>
          <a:xfrm>
            <a:off x="297000" y="2115759"/>
            <a:ext cx="8550000" cy="4172400"/>
            <a:chOff x="0" y="0"/>
            <a:chExt cx="12268763" cy="5773012"/>
          </a:xfrm>
        </p:grpSpPr>
        <p:sp>
          <p:nvSpPr>
            <p:cNvPr id="3" name="Freeform 12">
              <a:extLst>
                <a:ext uri="{FF2B5EF4-FFF2-40B4-BE49-F238E27FC236}">
                  <a16:creationId xmlns:a16="http://schemas.microsoft.com/office/drawing/2014/main" id="{1E0FA8B9-D8DE-EA54-D42A-26D741DE9AE4}"/>
                </a:ext>
              </a:extLst>
            </p:cNvPr>
            <p:cNvSpPr/>
            <p:nvPr/>
          </p:nvSpPr>
          <p:spPr>
            <a:xfrm>
              <a:off x="0" y="0"/>
              <a:ext cx="12268708" cy="5773028"/>
            </a:xfrm>
            <a:custGeom>
              <a:avLst/>
              <a:gdLst/>
              <a:ahLst/>
              <a:cxnLst/>
              <a:rect l="l" t="t" r="r" b="b"/>
              <a:pathLst>
                <a:path w="12268708" h="5773028">
                  <a:moveTo>
                    <a:pt x="6731" y="0"/>
                  </a:moveTo>
                  <a:lnTo>
                    <a:pt x="12261977" y="0"/>
                  </a:lnTo>
                  <a:cubicBezTo>
                    <a:pt x="12265660" y="0"/>
                    <a:pt x="12268708" y="3166"/>
                    <a:pt x="12268708" y="6991"/>
                  </a:cubicBezTo>
                  <a:lnTo>
                    <a:pt x="12268708" y="5766038"/>
                  </a:lnTo>
                  <a:cubicBezTo>
                    <a:pt x="12268708" y="5769863"/>
                    <a:pt x="12265660" y="5773028"/>
                    <a:pt x="12261977" y="5773028"/>
                  </a:cubicBezTo>
                  <a:lnTo>
                    <a:pt x="6731" y="5773028"/>
                  </a:lnTo>
                  <a:cubicBezTo>
                    <a:pt x="3048" y="5773028"/>
                    <a:pt x="0" y="5769863"/>
                    <a:pt x="0" y="5766038"/>
                  </a:cubicBezTo>
                  <a:lnTo>
                    <a:pt x="0" y="6991"/>
                  </a:lnTo>
                  <a:cubicBezTo>
                    <a:pt x="0" y="3166"/>
                    <a:pt x="3048" y="0"/>
                    <a:pt x="6731" y="0"/>
                  </a:cubicBezTo>
                  <a:moveTo>
                    <a:pt x="6731" y="14113"/>
                  </a:moveTo>
                  <a:lnTo>
                    <a:pt x="6731" y="6991"/>
                  </a:lnTo>
                  <a:lnTo>
                    <a:pt x="13462" y="6991"/>
                  </a:lnTo>
                  <a:lnTo>
                    <a:pt x="13462" y="5766038"/>
                  </a:lnTo>
                  <a:lnTo>
                    <a:pt x="6731" y="5766038"/>
                  </a:lnTo>
                  <a:lnTo>
                    <a:pt x="6731" y="5759047"/>
                  </a:lnTo>
                  <a:lnTo>
                    <a:pt x="12261977" y="5759047"/>
                  </a:lnTo>
                  <a:lnTo>
                    <a:pt x="12261977" y="5766038"/>
                  </a:lnTo>
                  <a:lnTo>
                    <a:pt x="12255246" y="5766038"/>
                  </a:lnTo>
                  <a:lnTo>
                    <a:pt x="12255246" y="6991"/>
                  </a:lnTo>
                  <a:lnTo>
                    <a:pt x="12261977" y="6991"/>
                  </a:lnTo>
                  <a:lnTo>
                    <a:pt x="12261977" y="13981"/>
                  </a:lnTo>
                  <a:lnTo>
                    <a:pt x="6731" y="13981"/>
                  </a:lnTo>
                  <a:close/>
                </a:path>
              </a:pathLst>
            </a:custGeom>
            <a:solidFill>
              <a:srgbClr val="4F81BD"/>
            </a:solidFill>
          </p:spPr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C7875611-2F14-D622-8E58-0CDE095FB92D}"/>
              </a:ext>
            </a:extLst>
          </p:cNvPr>
          <p:cNvSpPr txBox="1"/>
          <p:nvPr/>
        </p:nvSpPr>
        <p:spPr>
          <a:xfrm>
            <a:off x="379122" y="2491384"/>
            <a:ext cx="8628957" cy="5153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1" spc="-9" dirty="0">
                <a:solidFill>
                  <a:schemeClr val="accent6">
                    <a:lumMod val="50000"/>
                  </a:schemeClr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Roll no.              UID                   Name of students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0315BE-2EA6-9888-2E23-5E716FA70D4F}"/>
              </a:ext>
            </a:extLst>
          </p:cNvPr>
          <p:cNvSpPr txBox="1"/>
          <p:nvPr/>
        </p:nvSpPr>
        <p:spPr>
          <a:xfrm>
            <a:off x="719356" y="3300144"/>
            <a:ext cx="7705288" cy="4769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99" spc="-8" dirty="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35                   123IT1337A                   Yogesh Kumawat</a:t>
            </a:r>
            <a:endParaRPr lang="en-IN" dirty="0"/>
          </a:p>
        </p:txBody>
      </p:sp>
      <p:sp>
        <p:nvSpPr>
          <p:cNvPr id="11" name="TextBox 18">
            <a:extLst>
              <a:ext uri="{FF2B5EF4-FFF2-40B4-BE49-F238E27FC236}">
                <a16:creationId xmlns:a16="http://schemas.microsoft.com/office/drawing/2014/main" id="{EA126153-133F-C726-2DA6-5D06DA79BC9F}"/>
              </a:ext>
            </a:extLst>
          </p:cNvPr>
          <p:cNvSpPr txBox="1"/>
          <p:nvPr/>
        </p:nvSpPr>
        <p:spPr>
          <a:xfrm>
            <a:off x="1288800" y="77400"/>
            <a:ext cx="7737664" cy="98634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175"/>
              </a:lnSpc>
            </a:pPr>
            <a:r>
              <a:rPr lang="en-US" sz="16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MGM's College of Engineering and Technology </a:t>
            </a:r>
            <a:r>
              <a:rPr lang="en-US" sz="16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Kamothe</a:t>
            </a:r>
            <a:r>
              <a:rPr lang="en-US" sz="16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, Navi Mumbai – 410 209 Department of Information Technology</a:t>
            </a:r>
          </a:p>
          <a:p>
            <a:pPr algn="ctr">
              <a:lnSpc>
                <a:spcPts val="2175"/>
              </a:lnSpc>
            </a:pPr>
            <a:r>
              <a:rPr lang="en-US" sz="1600" b="1" spc="-26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A.Y.2026-27</a:t>
            </a:r>
          </a:p>
        </p:txBody>
      </p:sp>
      <p:sp>
        <p:nvSpPr>
          <p:cNvPr id="6" name="TextBox 22">
            <a:extLst>
              <a:ext uri="{FF2B5EF4-FFF2-40B4-BE49-F238E27FC236}">
                <a16:creationId xmlns:a16="http://schemas.microsoft.com/office/drawing/2014/main" id="{396D9FFD-BCCD-68AF-CECE-BF2B9D22D569}"/>
              </a:ext>
            </a:extLst>
          </p:cNvPr>
          <p:cNvSpPr txBox="1"/>
          <p:nvPr/>
        </p:nvSpPr>
        <p:spPr>
          <a:xfrm>
            <a:off x="719356" y="3927887"/>
            <a:ext cx="7705288" cy="3742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spc="-8" dirty="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 27                   123IT1185A                   Gaurav </a:t>
            </a:r>
            <a:r>
              <a:rPr lang="en-US" sz="2499" spc="-8" dirty="0" err="1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Kukade</a:t>
            </a:r>
            <a:endParaRPr lang="en-US" sz="2499" spc="-8" dirty="0">
              <a:solidFill>
                <a:srgbClr val="000000"/>
              </a:solidFill>
              <a:latin typeface="Georgia Pro"/>
              <a:ea typeface="Georgia Pro"/>
              <a:cs typeface="Georgia Pro"/>
              <a:sym typeface="Georgia Pro"/>
            </a:endParaRPr>
          </a:p>
        </p:txBody>
      </p:sp>
      <p:sp>
        <p:nvSpPr>
          <p:cNvPr id="9" name="TextBox 23">
            <a:extLst>
              <a:ext uri="{FF2B5EF4-FFF2-40B4-BE49-F238E27FC236}">
                <a16:creationId xmlns:a16="http://schemas.microsoft.com/office/drawing/2014/main" id="{C6AE65ED-9967-14AA-6158-46EBC4CF5D60}"/>
              </a:ext>
            </a:extLst>
          </p:cNvPr>
          <p:cNvSpPr txBox="1"/>
          <p:nvPr/>
        </p:nvSpPr>
        <p:spPr>
          <a:xfrm>
            <a:off x="719356" y="4470812"/>
            <a:ext cx="7705288" cy="381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99"/>
              </a:lnSpc>
            </a:pPr>
            <a:r>
              <a:rPr lang="en-US" sz="2499" spc="-8" dirty="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 34                   124IT3253A                   Aniket Kolekar</a:t>
            </a:r>
          </a:p>
        </p:txBody>
      </p:sp>
      <p:sp>
        <p:nvSpPr>
          <p:cNvPr id="12" name="TextBox 14">
            <a:extLst>
              <a:ext uri="{FF2B5EF4-FFF2-40B4-BE49-F238E27FC236}">
                <a16:creationId xmlns:a16="http://schemas.microsoft.com/office/drawing/2014/main" id="{2FC13C51-0B74-041E-EF8D-68A258FDA529}"/>
              </a:ext>
            </a:extLst>
          </p:cNvPr>
          <p:cNvSpPr txBox="1"/>
          <p:nvPr/>
        </p:nvSpPr>
        <p:spPr>
          <a:xfrm>
            <a:off x="2725200" y="5281378"/>
            <a:ext cx="3936803" cy="7823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5"/>
              </a:lnSpc>
            </a:pPr>
            <a:r>
              <a:rPr lang="en-US" sz="2346" b="1" dirty="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Under the guidance of</a:t>
            </a:r>
          </a:p>
          <a:p>
            <a:pPr algn="ctr">
              <a:lnSpc>
                <a:spcPts val="3334"/>
              </a:lnSpc>
            </a:pPr>
            <a:r>
              <a:rPr lang="en-US" sz="2786" b="1" dirty="0">
                <a:solidFill>
                  <a:schemeClr val="accent6">
                    <a:lumMod val="50000"/>
                  </a:schemeClr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Mrs. </a:t>
            </a:r>
            <a:r>
              <a:rPr lang="en-US" sz="2786" b="1" dirty="0" err="1">
                <a:solidFill>
                  <a:schemeClr val="accent6">
                    <a:lumMod val="50000"/>
                  </a:schemeClr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Mitrakshi</a:t>
            </a:r>
            <a:r>
              <a:rPr lang="en-US" sz="2786" b="1" dirty="0">
                <a:solidFill>
                  <a:schemeClr val="accent6">
                    <a:lumMod val="50000"/>
                  </a:schemeClr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 Patil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DA76D9-602A-6F1B-6E22-B3F22FDC4DEB}"/>
              </a:ext>
            </a:extLst>
          </p:cNvPr>
          <p:cNvSpPr txBox="1"/>
          <p:nvPr/>
        </p:nvSpPr>
        <p:spPr>
          <a:xfrm>
            <a:off x="1246795" y="1358921"/>
            <a:ext cx="66504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Fire Department Inspection &amp; NoC Management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9898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BDA29D-10C9-A539-1AE5-0232F84A5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395F613-F933-27A4-DA6C-327A720F59CE}"/>
              </a:ext>
            </a:extLst>
          </p:cNvPr>
          <p:cNvSpPr txBox="1"/>
          <p:nvPr/>
        </p:nvSpPr>
        <p:spPr>
          <a:xfrm>
            <a:off x="1913392" y="351000"/>
            <a:ext cx="62905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Fire Department Inspection &amp; NOC Management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6794DD-6343-1812-B544-5FDD6625D486}"/>
              </a:ext>
            </a:extLst>
          </p:cNvPr>
          <p:cNvSpPr txBox="1"/>
          <p:nvPr/>
        </p:nvSpPr>
        <p:spPr>
          <a:xfrm>
            <a:off x="205986" y="1855800"/>
            <a:ext cx="1947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961BC9-7250-1463-7222-BC86E15C6D3B}"/>
              </a:ext>
            </a:extLst>
          </p:cNvPr>
          <p:cNvSpPr txBox="1"/>
          <p:nvPr/>
        </p:nvSpPr>
        <p:spPr>
          <a:xfrm>
            <a:off x="205986" y="2334600"/>
            <a:ext cx="8481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monitoring and evaluation software for application received in Fire Department relating to inspections, follow-ups, issue of NOCs and such licensing requirement so as to ensure automatic system monitoring without any manual support.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EE7F44B-1829-D1A7-A9A5-943DDD6ECABE}"/>
              </a:ext>
            </a:extLst>
          </p:cNvPr>
          <p:cNvSpPr txBox="1"/>
          <p:nvPr/>
        </p:nvSpPr>
        <p:spPr>
          <a:xfrm>
            <a:off x="217210" y="3907800"/>
            <a:ext cx="1082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23BEE83-1598-169F-877A-052B34175EBC}"/>
              </a:ext>
            </a:extLst>
          </p:cNvPr>
          <p:cNvSpPr txBox="1"/>
          <p:nvPr/>
        </p:nvSpPr>
        <p:spPr>
          <a:xfrm>
            <a:off x="205986" y="4386600"/>
            <a:ext cx="84992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reduce delays and manual work in Fire NOC processing by providing a centralized, real-time platform for monitoring inspections, follow-ups, and approvals.</a:t>
            </a:r>
          </a:p>
        </p:txBody>
      </p:sp>
    </p:spTree>
    <p:extLst>
      <p:ext uri="{BB962C8B-B14F-4D97-AF65-F5344CB8AC3E}">
        <p14:creationId xmlns:p14="http://schemas.microsoft.com/office/powerpoint/2010/main" val="4333696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34247-2EBB-F645-C8FC-8FC6C39B9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F8911F5-2905-4E83-05FD-4C07D42AF0E4}"/>
              </a:ext>
            </a:extLst>
          </p:cNvPr>
          <p:cNvSpPr txBox="1"/>
          <p:nvPr/>
        </p:nvSpPr>
        <p:spPr>
          <a:xfrm>
            <a:off x="4206484" y="351000"/>
            <a:ext cx="17043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7C8FA8-3274-882D-149B-4CD484EB4492}"/>
              </a:ext>
            </a:extLst>
          </p:cNvPr>
          <p:cNvSpPr txBox="1"/>
          <p:nvPr/>
        </p:nvSpPr>
        <p:spPr>
          <a:xfrm>
            <a:off x="399600" y="1582200"/>
            <a:ext cx="8344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Fire Department Inspection &amp; NOC Management System is a web-based platform that digitizes and monitors the complete Fire NOC process, from application submission and inspection to follow-ups and final approval, ensuring faster, transparent, and organized processing.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3D3575-BF20-656B-8D29-1D9941C1DB6D}"/>
              </a:ext>
            </a:extLst>
          </p:cNvPr>
          <p:cNvSpPr txBox="1"/>
          <p:nvPr/>
        </p:nvSpPr>
        <p:spPr>
          <a:xfrm>
            <a:off x="399600" y="2574099"/>
            <a:ext cx="8344800" cy="37414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NOC Application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 Management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Inspection Scheduling &amp; Assignment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Inspection Checklist &amp; Reports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Status Tracking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Follow-up &amp; Re-inspection Management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NOC Generation &amp; Verification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Notifications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&amp; Inspector Dashboards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History &amp; Audit Trail </a:t>
            </a:r>
          </a:p>
        </p:txBody>
      </p:sp>
    </p:spTree>
    <p:extLst>
      <p:ext uri="{BB962C8B-B14F-4D97-AF65-F5344CB8AC3E}">
        <p14:creationId xmlns:p14="http://schemas.microsoft.com/office/powerpoint/2010/main" val="24235507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6383A4-CCAE-3856-09A7-9D66EE821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Slide Number Placeholder 4">
            <a:extLst>
              <a:ext uri="{FF2B5EF4-FFF2-40B4-BE49-F238E27FC236}">
                <a16:creationId xmlns:a16="http://schemas.microsoft.com/office/drawing/2014/main" id="{3C7A4BED-041D-222F-129F-3DFA14D5DAA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7010400" y="6356350"/>
            <a:ext cx="2133600" cy="3651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fld id="{C3D033E1-F08F-4BAD-B998-B91064587D12}" type="slidenum">
              <a:rPr lang="en-IN" altLang="en-US" sz="1200" smtClean="0">
                <a:solidFill>
                  <a:srgbClr val="FFFFFF"/>
                </a:solidFill>
                <a:latin typeface="Franklin Gothic Book" pitchFamily="34" charset="0"/>
              </a:rPr>
              <a:pPr/>
              <a:t>4</a:t>
            </a:fld>
            <a:endParaRPr lang="en-IN" altLang="en-US" sz="1200">
              <a:solidFill>
                <a:srgbClr val="FFFFFF"/>
              </a:solidFill>
              <a:latin typeface="Franklin Gothic Book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571777-427F-51F8-D55A-F9AFA930667F}"/>
              </a:ext>
            </a:extLst>
          </p:cNvPr>
          <p:cNvSpPr txBox="1"/>
          <p:nvPr/>
        </p:nvSpPr>
        <p:spPr>
          <a:xfrm>
            <a:off x="3888000" y="368577"/>
            <a:ext cx="23439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D203F2F-4D64-7E65-87B7-A0A20BABBC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6711787"/>
              </p:ext>
            </p:extLst>
          </p:nvPr>
        </p:nvGraphicFramePr>
        <p:xfrm>
          <a:off x="399600" y="1299524"/>
          <a:ext cx="8344800" cy="506321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17240">
                  <a:extLst>
                    <a:ext uri="{9D8B030D-6E8A-4147-A177-3AD203B41FA5}">
                      <a16:colId xmlns:a16="http://schemas.microsoft.com/office/drawing/2014/main" val="75903226"/>
                    </a:ext>
                  </a:extLst>
                </a:gridCol>
                <a:gridCol w="1043100">
                  <a:extLst>
                    <a:ext uri="{9D8B030D-6E8A-4147-A177-3AD203B41FA5}">
                      <a16:colId xmlns:a16="http://schemas.microsoft.com/office/drawing/2014/main" val="606513839"/>
                    </a:ext>
                  </a:extLst>
                </a:gridCol>
                <a:gridCol w="1529880">
                  <a:extLst>
                    <a:ext uri="{9D8B030D-6E8A-4147-A177-3AD203B41FA5}">
                      <a16:colId xmlns:a16="http://schemas.microsoft.com/office/drawing/2014/main" val="3345770449"/>
                    </a:ext>
                  </a:extLst>
                </a:gridCol>
                <a:gridCol w="1947120">
                  <a:extLst>
                    <a:ext uri="{9D8B030D-6E8A-4147-A177-3AD203B41FA5}">
                      <a16:colId xmlns:a16="http://schemas.microsoft.com/office/drawing/2014/main" val="595812218"/>
                    </a:ext>
                  </a:extLst>
                </a:gridCol>
                <a:gridCol w="1877580">
                  <a:extLst>
                    <a:ext uri="{9D8B030D-6E8A-4147-A177-3AD203B41FA5}">
                      <a16:colId xmlns:a16="http://schemas.microsoft.com/office/drawing/2014/main" val="3239940121"/>
                    </a:ext>
                  </a:extLst>
                </a:gridCol>
                <a:gridCol w="1529880">
                  <a:extLst>
                    <a:ext uri="{9D8B030D-6E8A-4147-A177-3AD203B41FA5}">
                      <a16:colId xmlns:a16="http://schemas.microsoft.com/office/drawing/2014/main" val="771045798"/>
                    </a:ext>
                  </a:extLst>
                </a:gridCol>
              </a:tblGrid>
              <a:tr h="2971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solidFill>
                            <a:schemeClr val="tx1"/>
                          </a:solidFill>
                          <a:effectLst/>
                        </a:rPr>
                        <a:t>Sr. No.</a:t>
                      </a:r>
                      <a:endParaRPr lang="en-IN" sz="12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1172" marR="1172" marT="1172" marB="11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solidFill>
                            <a:schemeClr val="tx1"/>
                          </a:solidFill>
                          <a:effectLst/>
                        </a:rPr>
                        <a:t>Author &amp; Year</a:t>
                      </a:r>
                      <a:endParaRPr lang="en-IN" sz="12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1172" marR="1172" marT="1172" marB="11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solidFill>
                            <a:schemeClr val="tx1"/>
                          </a:solidFill>
                          <a:effectLst/>
                        </a:rPr>
                        <a:t>Paper Title</a:t>
                      </a:r>
                      <a:endParaRPr lang="en-IN" sz="1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1172" marR="1172" marT="1172" marB="11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solidFill>
                            <a:schemeClr val="tx1"/>
                          </a:solidFill>
                          <a:effectLst/>
                        </a:rPr>
                        <a:t>Methodology</a:t>
                      </a:r>
                      <a:endParaRPr lang="en-IN" sz="12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1172" marR="1172" marT="1172" marB="11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solidFill>
                            <a:schemeClr val="tx1"/>
                          </a:solidFill>
                          <a:effectLst/>
                        </a:rPr>
                        <a:t>Result / Findings</a:t>
                      </a:r>
                      <a:endParaRPr lang="en-IN" sz="12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1172" marR="1172" marT="1172" marB="11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solidFill>
                            <a:schemeClr val="tx1"/>
                          </a:solidFill>
                          <a:effectLst/>
                        </a:rPr>
                        <a:t>Limitations</a:t>
                      </a:r>
                      <a:endParaRPr lang="en-IN" sz="12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1172" marR="1172" marT="1172" marB="11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758240"/>
                  </a:ext>
                </a:extLst>
              </a:tr>
              <a:tr h="23769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IN" sz="12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1172" marR="1172" marT="1172" marB="11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</a:rPr>
                        <a:t>Juliet et al., 2025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1172" marR="1172" marT="1172" marB="11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</a:rPr>
                        <a:t>Real Time Monitoring and Evaluation Software for Application Received in Fire Department Relating to Inspections, Follow-ups, Issue of NOCs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1172" marR="1172" marT="1172" marB="11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</a:rPr>
                        <a:t>Developed a web-based system using HTML, CSS, JavaScript and backend processing for application submission, inspection tracking, follow-ups, approvals/rejections and NOC issuance.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1172" marR="1172" marT="1172" marB="11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</a:rPr>
                        <a:t>Digital processing improves transparency, status tracking, accuracy and response time. Centralized dashboards can help fire officials monitor applications and NOC processes.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1172" marR="1172" marT="1172" marB="11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</a:rPr>
                        <a:t>Prototype-oriented study with limited real-world government deployment and validation. Legal, security, scalability and integration requirements require further evaluation.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1172" marR="1172" marT="1172" marB="11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8267925"/>
                  </a:ext>
                </a:extLst>
              </a:tr>
              <a:tr h="26132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IN" sz="12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1172" marR="1172" marT="1172" marB="11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</a:rPr>
                        <a:t>Khan et al., 2020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1172" marR="1172" marT="1172" marB="11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Converging Technologies for Safety Planning and Inspection Information System of Portable Firefighting Equipment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1172" marR="1172" marT="1172" marB="11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Developed a Portable Firefighting Equipment Inspection Planning System using BIM, OCR and Blockchain, together with a smartphone-based inspection information system. Two case studies were used for validation.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1172" marR="1172" marT="1172" marB="11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The system improved inspection-data recording, transparency and accessibility. BIM supported safety planning while blockchain provided reliable and tamper-resistant inspection records.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1172" marR="1172" marT="1172" marB="11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Some BIM inputs still required manual effort. Tested mainly through case studies and focused on portable firefighting equipment at construction sites.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1172" marR="1172" marT="1172" marB="11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3426028"/>
                  </a:ext>
                </a:extLst>
              </a:tr>
              <a:tr h="19042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en-IN" sz="12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1172" marR="1172" marT="1172" marB="11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Kpamma &amp; Adjei-Kumi, 2013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1172" marR="1172" marT="1172" marB="11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Construction Permits and Flow of Projects within the Sunyani Municipality, Ghana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1172" marR="1172" marT="1172" marB="11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Case study using interviews, records, observations and stakeholder data to examine building, environmental and fire-permit acquisition processes.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1172" marR="1172" marT="1172" marB="11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Permit processes were found to cause delays because of poor information flow, lack of process integration and inefficient permit-processing procedures.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1172" marR="1172" marT="1172" marB="11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</a:rPr>
                        <a:t>Study was conducted in one municipality in Ghana. Government procedures and regulations may differ considerably in India or other regions.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1172" marR="1172" marT="1172" marB="11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60441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24056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5AEC0-FE18-1AF4-83CE-DE0D195DB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331B318-E360-7C0A-651E-16B6E51156B1}"/>
              </a:ext>
            </a:extLst>
          </p:cNvPr>
          <p:cNvSpPr txBox="1"/>
          <p:nvPr/>
        </p:nvSpPr>
        <p:spPr>
          <a:xfrm>
            <a:off x="3901917" y="351000"/>
            <a:ext cx="23134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39DB16-7F5E-5C3A-0B2D-8FDF5173BD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12"/>
          <a:stretch>
            <a:fillRect/>
          </a:stretch>
        </p:blipFill>
        <p:spPr>
          <a:xfrm>
            <a:off x="336600" y="1377000"/>
            <a:ext cx="8470800" cy="496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6078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92106-90AC-B1BE-D375-1B380ADD1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2E3376A-5498-E403-16A4-BB2F98194594}"/>
              </a:ext>
            </a:extLst>
          </p:cNvPr>
          <p:cNvSpPr txBox="1"/>
          <p:nvPr/>
        </p:nvSpPr>
        <p:spPr>
          <a:xfrm>
            <a:off x="502200" y="2274838"/>
            <a:ext cx="81396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Fire Department Inspection &amp; NOC Management System aims to digitize and streamline the complete fire NOC process, from application and inspection to approval and follow-up. By introducing risk-based inspection prioritization, smart inspector management, centralized records, and real-time tracking, the system can reduce delays, improve transparency, and make fire safety administration more efficient.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DD7278-F052-E393-FD2B-E9F776A433E5}"/>
              </a:ext>
            </a:extLst>
          </p:cNvPr>
          <p:cNvSpPr txBox="1"/>
          <p:nvPr/>
        </p:nvSpPr>
        <p:spPr>
          <a:xfrm>
            <a:off x="4265799" y="351000"/>
            <a:ext cx="15856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11831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84158-1719-8508-A4C1-A6DEC492E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5555B2F-B778-3946-CBFD-C0F945ED3274}"/>
              </a:ext>
            </a:extLst>
          </p:cNvPr>
          <p:cNvSpPr txBox="1"/>
          <p:nvPr/>
        </p:nvSpPr>
        <p:spPr>
          <a:xfrm>
            <a:off x="4093200" y="419400"/>
            <a:ext cx="17604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AB85DC-4A40-9ACD-02F7-C980DBB01BB1}"/>
              </a:ext>
            </a:extLst>
          </p:cNvPr>
          <p:cNvSpPr txBox="1"/>
          <p:nvPr/>
        </p:nvSpPr>
        <p:spPr>
          <a:xfrm>
            <a:off x="297000" y="1855800"/>
            <a:ext cx="8550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K. Juliet, D. Divya, H. Veena, M. Manohar, and R. B. Rahul, “Real Time Monitoring and Evaluation Software for Application Received in Fire Department Relating to Inspections, Follow-Ups, Issue of NOCs,”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Research Journal of Modernization in Engineering Technology and Science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7, no. 12, Dec. 2025.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A. Garg, A. Kaur, and H. Dangi, “Outsourcing of Fire Inspection Services: An Analytical Approach,”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Asian Journal of Water, Environment and Pollution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21, no. 6, pp. 189–194, 2024.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J. A. Vanlandingham,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Developing an Effective Fire Inspection Program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Executive Fire Officer Research Paper, National Fire Academy, Chambersburg Fire Department, Pennsylvania, Jan. 2006.</a:t>
            </a:r>
          </a:p>
        </p:txBody>
      </p:sp>
    </p:spTree>
    <p:extLst>
      <p:ext uri="{BB962C8B-B14F-4D97-AF65-F5344CB8AC3E}">
        <p14:creationId xmlns:p14="http://schemas.microsoft.com/office/powerpoint/2010/main" val="32386124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9D241-DD64-72B0-7D9E-BC08E155C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223800"/>
            <a:ext cx="7886700" cy="1325563"/>
          </a:xfrm>
        </p:spPr>
        <p:txBody>
          <a:bodyPr/>
          <a:lstStyle/>
          <a:p>
            <a:r>
              <a:rPr lang="en-US" dirty="0"/>
              <a:t>Thank you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45151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229D0-0045-385A-1EF1-39EC8538C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4994482"/>
      </p:ext>
    </p:extLst>
  </p:cSld>
  <p:clrMapOvr>
    <a:masterClrMapping/>
  </p:clrMapOvr>
</p:sld>
</file>

<file path=ppt/theme/theme1.xml><?xml version="1.0" encoding="utf-8"?>
<a:theme xmlns:a="http://schemas.openxmlformats.org/drawingml/2006/main" name="MGMCET_IT_NEW_Log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3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SIT_ETC Templet for the PPT</Template>
  <TotalTime>39636</TotalTime>
  <Words>732</Words>
  <Application>Microsoft Office PowerPoint</Application>
  <PresentationFormat>On-screen Show (4:3)</PresentationFormat>
  <Paragraphs>65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9</vt:i4>
      </vt:variant>
    </vt:vector>
  </HeadingPairs>
  <TitlesOfParts>
    <vt:vector size="22" baseType="lpstr">
      <vt:lpstr>Arial</vt:lpstr>
      <vt:lpstr>Calibri</vt:lpstr>
      <vt:lpstr>Calibri Light</vt:lpstr>
      <vt:lpstr>Franklin Gothic Book</vt:lpstr>
      <vt:lpstr>Georgia Pro</vt:lpstr>
      <vt:lpstr>Georgia Pro Bold</vt:lpstr>
      <vt:lpstr>Times New Roman</vt:lpstr>
      <vt:lpstr>Times New Roman Bold</vt:lpstr>
      <vt:lpstr>MGMCET_IT_NEW_Logo</vt:lpstr>
      <vt:lpstr>3_Custom Design</vt:lpstr>
      <vt:lpstr>2_Custom Design</vt:lpstr>
      <vt:lpstr>1_Custom Design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DSMANTRI</dc:creator>
  <cp:lastModifiedBy>Yogesh Kumawat</cp:lastModifiedBy>
  <cp:revision>1896</cp:revision>
  <cp:lastPrinted>1601-01-01T00:00:00Z</cp:lastPrinted>
  <dcterms:created xsi:type="dcterms:W3CDTF">1601-01-01T00:00:00Z</dcterms:created>
  <dcterms:modified xsi:type="dcterms:W3CDTF">2026-09-11T06:16:48Z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